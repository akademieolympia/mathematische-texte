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E3D2"/>
          </a:solidFill>
          <a:ln w="12700">
            <a:solidFill>
              <a:srgbClr val="66E3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02368" y="164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EABC · Kolloquium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31168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E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Z₆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F6F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F6F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 Z₆: Von der diskreten Cayley-Struktur zur Ricci-flachen Geometrie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2C4"/>
                </a:solidFill>
              </a:rPr>
              <a:t>Die Beweislast liegt nicht bei Ric(g)=0, sondern bei der globalen Spin(7)-Interpolation.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11B2C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55664" y="128016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11B2C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5C26B"/>
                </a:solidFill>
              </a:rPr>
              <a:t>DISKRET / ALGEBRAISCH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11696" y="14813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6E3D2"/>
                </a:solidFill>
              </a:rPr>
              <a:t>DIFFERENTIALGEOMETRISCH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" y="1892808"/>
            <a:ext cx="256032" cy="256032"/>
          </a:xfrm>
          <a:prstGeom prst="ellipse">
            <a:avLst/>
          </a:prstGeom>
          <a:solidFill>
            <a:srgbClr val="F5C26B">
              <a:alpha val="95000"/>
            </a:srgbClr>
          </a:solidFill>
          <a:ln w="7620">
            <a:solidFill>
              <a:srgbClr val="F5C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3395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43584" y="18836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Positive Gram-Matrix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43584" y="2130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2C4"/>
                </a:solidFill>
              </a:rPr>
              <a:t>arithmetisches Gitter-Skelett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9536" y="2404872"/>
            <a:ext cx="256032" cy="256032"/>
          </a:xfrm>
          <a:prstGeom prst="ellipse">
            <a:avLst/>
          </a:prstGeom>
          <a:solidFill>
            <a:srgbClr val="F5C26B">
              <a:alpha val="95000"/>
            </a:srgbClr>
          </a:solidFill>
          <a:ln w="7620">
            <a:solidFill>
              <a:srgbClr val="F5C2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4602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43584" y="23957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Punktweise Cayley-Form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43584" y="26426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2C4"/>
                </a:solidFill>
              </a:rPr>
              <a:t>algebraischer Spin(7)-Typ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9536" y="2916936"/>
            <a:ext cx="256032" cy="256032"/>
          </a:xfrm>
          <a:prstGeom prst="ellipse">
            <a:avLst/>
          </a:prstGeom>
          <a:solidFill>
            <a:srgbClr val="F5C26B">
              <a:alpha val="95000"/>
            </a:srgbClr>
          </a:solidFill>
          <a:ln w="7620">
            <a:solidFill>
              <a:srgbClr val="F5C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95808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43584" y="29077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Lokale Spin(7)-Reduktion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43584" y="31546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2C4"/>
                </a:solidFill>
              </a:rPr>
              <a:t>diskrete Symmetriestruktur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48272" y="1892808"/>
            <a:ext cx="256032" cy="256032"/>
          </a:xfrm>
          <a:prstGeom prst="ellipse">
            <a:avLst/>
          </a:prstGeom>
          <a:solidFill>
            <a:srgbClr val="66E3D2">
              <a:alpha val="95000"/>
            </a:srgbClr>
          </a:solidFill>
          <a:ln w="7620">
            <a:solidFill>
              <a:srgbClr val="66E3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93395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0" y="18836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Glatte 8-Mannigfaltigkeit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130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2C4"/>
                </a:solidFill>
              </a:rPr>
              <a:t>(M⁸, g)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48272" y="2404872"/>
            <a:ext cx="256032" cy="256032"/>
          </a:xfrm>
          <a:prstGeom prst="ellipse">
            <a:avLst/>
          </a:prstGeom>
          <a:solidFill>
            <a:srgbClr val="66E3D2">
              <a:alpha val="95000"/>
            </a:srgbClr>
          </a:solidFill>
          <a:ln w="7620">
            <a:solidFill>
              <a:srgbClr val="66E3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244602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32320" y="23957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Globale admissible 4-Form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426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2C4"/>
                </a:solidFill>
              </a:rPr>
              <a:t>Φ ∈ Ω⁴(M)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48272" y="2916936"/>
            <a:ext cx="256032" cy="256032"/>
          </a:xfrm>
          <a:prstGeom prst="ellipse">
            <a:avLst/>
          </a:prstGeom>
          <a:solidFill>
            <a:srgbClr val="66E3D2">
              <a:alpha val="95000"/>
            </a:srgbClr>
          </a:solidFill>
          <a:ln w="7620">
            <a:solidFill>
              <a:srgbClr val="66E3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295808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32320" y="29077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Induzierte Metrik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31546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2C4"/>
                </a:solidFill>
              </a:rPr>
              <a:t>g = gΦ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79008" y="2322576"/>
            <a:ext cx="64008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40096" y="1865376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2A1820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9824" y="19842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F6B6B"/>
                </a:solidFill>
              </a:rPr>
              <a:t>OFFENES GATE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2560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Gram-Skelett  ⇢  (Φ, gΦ)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208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6B6B"/>
                </a:solidFill>
              </a:rPr>
              <a:t>globale Interpolation + dΦ = 0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03504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B5FF"/>
                </a:solidFill>
              </a:rPr>
              <a:t>ETABLIERTE GEOMETRIE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4142232"/>
            <a:ext cx="11055096" cy="969264"/>
          </a:xfrm>
          <a:prstGeom prst="roundRect">
            <a:avLst>
              <a:gd name="adj" fmla="val 7547"/>
            </a:avLst>
          </a:prstGeom>
          <a:solidFill>
            <a:srgbClr val="0E1726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" y="4407408"/>
            <a:ext cx="1874520" cy="438912"/>
          </a:xfrm>
          <a:prstGeom prst="roundRect">
            <a:avLst>
              <a:gd name="adj" fmla="val 10417"/>
            </a:avLst>
          </a:prstGeom>
          <a:solidFill>
            <a:srgbClr val="19263A"/>
          </a:solidFill>
          <a:ln w="15240">
            <a:solidFill>
              <a:srgbClr val="66E3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" y="4521708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6E3D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dΦ = 0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2816352" y="4626864"/>
            <a:ext cx="155448" cy="0"/>
          </a:xfrm>
          <a:prstGeom prst="line">
            <a:avLst/>
          </a:prstGeom>
          <a:noFill/>
          <a:ln w="17780">
            <a:solidFill>
              <a:srgbClr val="A6B2C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063240" y="440740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19263A"/>
          </a:solidFill>
          <a:ln w="15240">
            <a:solidFill>
              <a:srgbClr val="66E3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18104" y="452170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6E3D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∇ᵍΦ = 0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5166360" y="4626864"/>
            <a:ext cx="210312" cy="0"/>
          </a:xfrm>
          <a:prstGeom prst="line">
            <a:avLst/>
          </a:prstGeom>
          <a:noFill/>
          <a:ln w="17780">
            <a:solidFill>
              <a:srgbClr val="A6B2C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68112" y="440740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19263A"/>
          </a:solidFill>
          <a:ln w="15240">
            <a:solidFill>
              <a:srgbClr val="6BB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22976" y="4521708"/>
            <a:ext cx="2496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BB5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Hol(g) ⊆ Spin(7)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8165592" y="4626864"/>
            <a:ext cx="256032" cy="0"/>
          </a:xfrm>
          <a:prstGeom prst="line">
            <a:avLst/>
          </a:prstGeom>
          <a:noFill/>
          <a:ln w="17780">
            <a:solidFill>
              <a:srgbClr val="A6B2C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513064" y="4407408"/>
            <a:ext cx="2258568" cy="438912"/>
          </a:xfrm>
          <a:prstGeom prst="roundRect">
            <a:avLst>
              <a:gd name="adj" fmla="val 10417"/>
            </a:avLst>
          </a:prstGeom>
          <a:solidFill>
            <a:srgbClr val="19263A"/>
          </a:solidFill>
          <a:ln w="15240">
            <a:solidFill>
              <a:srgbClr val="83D3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67928" y="452170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3D39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Ric(g) = 0</a:t>
            </a:r>
            <a:endParaRPr lang="en-US" sz="1550" dirty="0"/>
          </a:p>
        </p:txBody>
      </p:sp>
      <p:sp>
        <p:nvSpPr>
          <p:cNvPr id="50" name="Shape 48"/>
          <p:cNvSpPr/>
          <p:nvPr/>
        </p:nvSpPr>
        <p:spPr>
          <a:xfrm>
            <a:off x="566928" y="5340096"/>
            <a:ext cx="6858000" cy="822960"/>
          </a:xfrm>
          <a:prstGeom prst="roundRect">
            <a:avLst>
              <a:gd name="adj" fmla="val 6667"/>
            </a:avLst>
          </a:prstGeom>
          <a:solidFill>
            <a:srgbClr val="151B2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" y="55138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6B"/>
                </a:solidFill>
              </a:rPr>
              <a:t>STATUSGRENZE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84832" y="5468112"/>
            <a:ext cx="4983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Diskretes Gram-Skelett  ≠  torsionsfreie Spin(7)-Metrik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86384" y="576986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6B2C4"/>
                </a:solidFill>
              </a:rPr>
              <a:t>Die vollständige Beweislast liegt in der Konstruktion einer globalen Cayley-Form Φ mit dΦ=0, die das diskrete Skelett exakt interpoliert.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7626096" y="5340096"/>
            <a:ext cx="3995928" cy="822960"/>
          </a:xfrm>
          <a:prstGeom prst="roundRect">
            <a:avLst>
              <a:gd name="adj" fmla="val 6667"/>
            </a:avLst>
          </a:prstGeom>
          <a:solidFill>
            <a:srgbClr val="101E1B"/>
          </a:solidFill>
          <a:ln w="12700">
            <a:solidFill>
              <a:srgbClr val="83D3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45552" y="55046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3D39B"/>
                </a:solidFill>
              </a:rPr>
              <a:t>EPISTEMISCHE EINORDNUNG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845552" y="57424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4F7FB"/>
                </a:solidFill>
              </a:rPr>
              <a:t>Ric(g)=0 ist die 8D-Vakuum-Einstein-Gleichung (Λ=0) – aber keine automatische 4D-Gravitationstheorie.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603504" y="647395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5758C"/>
                </a:solidFill>
              </a:rPr>
              <a:t>Geometrischer Kern: torsionsfreie Spin(7)-Struktur ⇒ Holonomie ⊆ Spin(7) ⇒ Ricci-flach. Vgl. Bryant (1987); Nordström (2010).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F6F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Z6: Von der diskreten Cayley-Struktur zur Ricci-flachen Geometrie</dc:title>
  <dc:subject>Gate Z6 – Spin(7) und Ricci-Flachheit</dc:subject>
  <dc:creator>OpenAI</dc:creator>
  <cp:lastModifiedBy>OpenAI</cp:lastModifiedBy>
  <cp:revision>1</cp:revision>
  <dcterms:created xsi:type="dcterms:W3CDTF">2026-09-07T20:50:04Z</dcterms:created>
  <dcterms:modified xsi:type="dcterms:W3CDTF">2026-09-07T20:50:04Z</dcterms:modified>
</cp:coreProperties>
</file>