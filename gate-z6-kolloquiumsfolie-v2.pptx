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6E3D2"/>
          </a:solidFill>
          <a:ln w="12700">
            <a:solidFill>
              <a:srgbClr val="66E3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02368" y="164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EABC · Kolloquium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631168" y="16459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E3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Z₆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F6F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F6F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Gate Z₆: Von der diskreten Cayley-Struktur zur Ricci-flachen Geometrie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585216" y="90525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6B2C4"/>
                </a:solidFill>
              </a:rPr>
              <a:t>Der semialgebraische Schritt kontrolliert den Übergang ins PL-Kontinuum; offen bleibt die geschlossene globale Cayley-Form.</a:t>
            </a:r>
            <a:endParaRPr lang="en-US" sz="112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3127248" cy="2395728"/>
          </a:xfrm>
          <a:prstGeom prst="roundRect">
            <a:avLst>
              <a:gd name="adj" fmla="val 2672"/>
            </a:avLst>
          </a:prstGeom>
          <a:solidFill>
            <a:srgbClr val="111B2C"/>
          </a:solidFill>
          <a:ln w="12700">
            <a:solidFill>
              <a:srgbClr val="2635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81328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spc="70" kern="0" dirty="0">
                <a:solidFill>
                  <a:srgbClr val="F5C26B"/>
                </a:solidFill>
              </a:rPr>
              <a:t>1 · DISKRET / ALGEBRAISCH</a:t>
            </a:r>
            <a:endParaRPr lang="en-US" sz="1010" dirty="0"/>
          </a:p>
        </p:txBody>
      </p:sp>
      <p:sp>
        <p:nvSpPr>
          <p:cNvPr id="6" name="Shape 4"/>
          <p:cNvSpPr/>
          <p:nvPr/>
        </p:nvSpPr>
        <p:spPr>
          <a:xfrm>
            <a:off x="3913632" y="1298448"/>
            <a:ext cx="3703320" cy="2395728"/>
          </a:xfrm>
          <a:prstGeom prst="roundRect">
            <a:avLst>
              <a:gd name="adj" fmla="val 2672"/>
            </a:avLst>
          </a:prstGeom>
          <a:solidFill>
            <a:srgbClr val="111B2C"/>
          </a:solidFill>
          <a:ln w="12700">
            <a:solidFill>
              <a:srgbClr val="2635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42232" y="148132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spc="70" kern="0" dirty="0">
                <a:solidFill>
                  <a:srgbClr val="6BB5FF"/>
                </a:solidFill>
              </a:rPr>
              <a:t>2 · SEMIALGEBRAISCH / PL</a:t>
            </a:r>
            <a:endParaRPr lang="en-US" sz="1010" dirty="0"/>
          </a:p>
        </p:txBody>
      </p:sp>
      <p:sp>
        <p:nvSpPr>
          <p:cNvPr id="8" name="Shape 6"/>
          <p:cNvSpPr/>
          <p:nvPr/>
        </p:nvSpPr>
        <p:spPr>
          <a:xfrm>
            <a:off x="7836408" y="1298448"/>
            <a:ext cx="3785616" cy="2395728"/>
          </a:xfrm>
          <a:prstGeom prst="roundRect">
            <a:avLst>
              <a:gd name="adj" fmla="val 2672"/>
            </a:avLst>
          </a:prstGeom>
          <a:solidFill>
            <a:srgbClr val="111B2C"/>
          </a:solidFill>
          <a:ln w="12700">
            <a:solidFill>
              <a:srgbClr val="2635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65008" y="1481328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spc="70" kern="0" dirty="0">
                <a:solidFill>
                  <a:srgbClr val="66E3D2"/>
                </a:solidFill>
              </a:rPr>
              <a:t>3 · DIFFERENTIALGEOMETRISCH</a:t>
            </a:r>
            <a:endParaRPr lang="en-US" sz="1010" dirty="0"/>
          </a:p>
        </p:txBody>
      </p:sp>
      <p:sp>
        <p:nvSpPr>
          <p:cNvPr id="10" name="Shape 8"/>
          <p:cNvSpPr/>
          <p:nvPr/>
        </p:nvSpPr>
        <p:spPr>
          <a:xfrm>
            <a:off x="841248" y="1783080"/>
            <a:ext cx="182880" cy="182880"/>
          </a:xfrm>
          <a:prstGeom prst="ellipse">
            <a:avLst/>
          </a:prstGeom>
          <a:solidFill>
            <a:srgbClr val="F5C26B"/>
          </a:solidFill>
          <a:ln w="6350">
            <a:solidFill>
              <a:srgbClr val="F5C2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1764792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4F7FB"/>
                </a:solidFill>
              </a:rPr>
              <a:t>Positive Gram-Matrix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1124712" y="196596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6B2C4"/>
                </a:solidFill>
              </a:rPr>
              <a:t>arithmetisches Gitter-Skelett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841248" y="2276856"/>
            <a:ext cx="182880" cy="182880"/>
          </a:xfrm>
          <a:prstGeom prst="ellipse">
            <a:avLst/>
          </a:prstGeom>
          <a:solidFill>
            <a:srgbClr val="F5C26B"/>
          </a:solidFill>
          <a:ln w="6350">
            <a:solidFill>
              <a:srgbClr val="F5C2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2258568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4F7FB"/>
                </a:solidFill>
              </a:rPr>
              <a:t>Punktweise Cayley-Form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1124712" y="245973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6B2C4"/>
                </a:solidFill>
              </a:rPr>
              <a:t>algebraischer Spin(7)-Typ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841248" y="2770632"/>
            <a:ext cx="182880" cy="182880"/>
          </a:xfrm>
          <a:prstGeom prst="ellipse">
            <a:avLst/>
          </a:prstGeom>
          <a:solidFill>
            <a:srgbClr val="F5C26B"/>
          </a:solidFill>
          <a:ln w="6350">
            <a:solidFill>
              <a:srgbClr val="F5C2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4712" y="275234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4F7FB"/>
                </a:solidFill>
              </a:rPr>
              <a:t>Lokale Spin(7)-Reduktion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1124712" y="2953512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6B2C4"/>
                </a:solidFill>
              </a:rPr>
              <a:t>Faser-/Symmetriestruktur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4197096" y="1728216"/>
            <a:ext cx="182880" cy="182880"/>
          </a:xfrm>
          <a:prstGeom prst="ellipse">
            <a:avLst/>
          </a:prstGeom>
          <a:solidFill>
            <a:srgbClr val="6BB5FF"/>
          </a:solidFill>
          <a:ln w="6350">
            <a:solidFill>
              <a:srgbClr val="6BB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1709928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4F7FB"/>
                </a:solidFill>
              </a:rPr>
              <a:t>Gram-Norm / Quadrik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4480560" y="1911096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6B2C4"/>
                </a:solidFill>
              </a:rPr>
              <a:t>semialgebraische Mengen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4197096" y="2194560"/>
            <a:ext cx="182880" cy="182880"/>
          </a:xfrm>
          <a:prstGeom prst="ellipse">
            <a:avLst/>
          </a:prstGeom>
          <a:solidFill>
            <a:srgbClr val="6BB5FF"/>
          </a:solidFill>
          <a:ln w="6350">
            <a:solidFill>
              <a:srgbClr val="6BB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217627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4F7FB"/>
                </a:solidFill>
              </a:rPr>
              <a:t>Kompatible Triangulierung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4480560" y="2377440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6B2C4"/>
                </a:solidFill>
              </a:rPr>
              <a:t>endliche Familien simultan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4197096" y="2660904"/>
            <a:ext cx="182880" cy="182880"/>
          </a:xfrm>
          <a:prstGeom prst="ellipse">
            <a:avLst/>
          </a:prstGeom>
          <a:solidFill>
            <a:srgbClr val="6BB5FF"/>
          </a:solidFill>
          <a:ln w="6350">
            <a:solidFill>
              <a:srgbClr val="6BB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2642616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4F7FB"/>
                </a:solidFill>
              </a:rPr>
              <a:t>Baryzentrische Interpolation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4480560" y="2843784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6B2C4"/>
                </a:solidFill>
              </a:rPr>
              <a:t>stetiges PL-Feld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4206240" y="3172968"/>
            <a:ext cx="3090672" cy="338328"/>
          </a:xfrm>
          <a:prstGeom prst="roundRect">
            <a:avLst>
              <a:gd name="adj" fmla="val 10811"/>
            </a:avLst>
          </a:prstGeom>
          <a:solidFill>
            <a:srgbClr val="102238"/>
          </a:solidFill>
          <a:ln w="11430">
            <a:solidFill>
              <a:srgbClr val="6BB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34256" y="327355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spc="50" kern="0" dirty="0">
                <a:solidFill>
                  <a:srgbClr val="6BB5FF"/>
                </a:solidFill>
              </a:rPr>
              <a:t>ERSTER PFEIL: RIGOROS SCHLIESSBAR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8119872" y="1728216"/>
            <a:ext cx="182880" cy="182880"/>
          </a:xfrm>
          <a:prstGeom prst="ellipse">
            <a:avLst/>
          </a:prstGeom>
          <a:solidFill>
            <a:srgbClr val="66E3D2"/>
          </a:solidFill>
          <a:ln w="6350">
            <a:solidFill>
              <a:srgbClr val="66E3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03336" y="1709928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4F7FB"/>
                </a:solidFill>
              </a:rPr>
              <a:t>Glatte 8-Mannigfaltigkeit</a:t>
            </a:r>
            <a:endParaRPr lang="en-US" sz="1140" dirty="0"/>
          </a:p>
        </p:txBody>
      </p:sp>
      <p:sp>
        <p:nvSpPr>
          <p:cNvPr id="32" name="Text 30"/>
          <p:cNvSpPr/>
          <p:nvPr/>
        </p:nvSpPr>
        <p:spPr>
          <a:xfrm>
            <a:off x="8403336" y="1911096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6B2C4"/>
                </a:solidFill>
              </a:rPr>
              <a:t>M⁸ mit geeigneter glatter Struktur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8119872" y="2194560"/>
            <a:ext cx="182880" cy="182880"/>
          </a:xfrm>
          <a:prstGeom prst="ellipse">
            <a:avLst/>
          </a:prstGeom>
          <a:solidFill>
            <a:srgbClr val="66E3D2"/>
          </a:solidFill>
          <a:ln w="6350">
            <a:solidFill>
              <a:srgbClr val="66E3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03336" y="2176272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4F7FB"/>
                </a:solidFill>
              </a:rPr>
              <a:t>Globale admissible 4-Form</a:t>
            </a:r>
            <a:endParaRPr lang="en-US" sz="1140" dirty="0"/>
          </a:p>
        </p:txBody>
      </p:sp>
      <p:sp>
        <p:nvSpPr>
          <p:cNvPr id="35" name="Text 33"/>
          <p:cNvSpPr/>
          <p:nvPr/>
        </p:nvSpPr>
        <p:spPr>
          <a:xfrm>
            <a:off x="8403336" y="2377440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6B2C4"/>
                </a:solidFill>
              </a:rPr>
              <a:t>Φ ∈ Ω⁴₊(M), g = gΦ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8119872" y="2660904"/>
            <a:ext cx="182880" cy="182880"/>
          </a:xfrm>
          <a:prstGeom prst="ellipse">
            <a:avLst/>
          </a:prstGeom>
          <a:solidFill>
            <a:srgbClr val="66E3D2"/>
          </a:solidFill>
          <a:ln w="6350">
            <a:solidFill>
              <a:srgbClr val="66E3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03336" y="2642616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4F7FB"/>
                </a:solidFill>
              </a:rPr>
              <a:t>Integrabilitätsbedingung</a:t>
            </a:r>
            <a:endParaRPr lang="en-US" sz="1140" dirty="0"/>
          </a:p>
        </p:txBody>
      </p:sp>
      <p:sp>
        <p:nvSpPr>
          <p:cNvPr id="38" name="Text 36"/>
          <p:cNvSpPr/>
          <p:nvPr/>
        </p:nvSpPr>
        <p:spPr>
          <a:xfrm>
            <a:off x="8403336" y="2843784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6B2C4"/>
                </a:solidFill>
              </a:rPr>
              <a:t>dΦ = 0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8138160" y="3172968"/>
            <a:ext cx="3145536" cy="338328"/>
          </a:xfrm>
          <a:prstGeom prst="roundRect">
            <a:avLst>
              <a:gd name="adj" fmla="val 10811"/>
            </a:avLst>
          </a:prstGeom>
          <a:solidFill>
            <a:srgbClr val="2A1820"/>
          </a:solidFill>
          <a:ln w="11430">
            <a:solidFill>
              <a:srgbClr val="FF6B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47888" y="3273552"/>
            <a:ext cx="2926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spc="50" kern="0" dirty="0">
                <a:solidFill>
                  <a:srgbClr val="FF6B6B"/>
                </a:solidFill>
              </a:rPr>
              <a:t>ZWEITER PFEIL: OFFENES GATE Z₆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3703320" y="2468880"/>
            <a:ext cx="201168" cy="0"/>
          </a:xfrm>
          <a:prstGeom prst="line">
            <a:avLst/>
          </a:prstGeom>
          <a:noFill/>
          <a:ln w="22860">
            <a:solidFill>
              <a:srgbClr val="6BB5FF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 rot="5400000">
            <a:off x="3392424" y="22128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BB5FF"/>
                </a:solidFill>
              </a:rPr>
              <a:t>semialgebraisch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616952" y="2468880"/>
            <a:ext cx="201168" cy="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 rot="5400000">
            <a:off x="7498080" y="21671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6B6B"/>
                </a:solidFill>
              </a:rPr>
              <a:t>OPEN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603504" y="389534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spc="80" kern="0" dirty="0">
                <a:solidFill>
                  <a:srgbClr val="B8A1FF"/>
                </a:solidFill>
              </a:rPr>
              <a:t>ETABLIERTE GEOMETRIE — SOBALD Φ GESCHLOSSEN IST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566928" y="4142232"/>
            <a:ext cx="11055096" cy="932688"/>
          </a:xfrm>
          <a:prstGeom prst="roundRect">
            <a:avLst>
              <a:gd name="adj" fmla="val 7843"/>
            </a:avLst>
          </a:prstGeom>
          <a:solidFill>
            <a:srgbClr val="0E1726"/>
          </a:solidFill>
          <a:ln w="12700">
            <a:solidFill>
              <a:srgbClr val="2635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41248" y="4389120"/>
            <a:ext cx="1874520" cy="429768"/>
          </a:xfrm>
          <a:prstGeom prst="roundRect">
            <a:avLst>
              <a:gd name="adj" fmla="val 10638"/>
            </a:avLst>
          </a:prstGeom>
          <a:solidFill>
            <a:srgbClr val="19263A"/>
          </a:solidFill>
          <a:ln w="14605">
            <a:solidFill>
              <a:srgbClr val="66E3D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6112" y="4503420"/>
            <a:ext cx="1764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66E3D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dΦ = 0</a:t>
            </a:r>
            <a:endParaRPr lang="en-US" sz="1470" dirty="0"/>
          </a:p>
        </p:txBody>
      </p:sp>
      <p:sp>
        <p:nvSpPr>
          <p:cNvPr id="49" name="Shape 47"/>
          <p:cNvSpPr/>
          <p:nvPr/>
        </p:nvSpPr>
        <p:spPr>
          <a:xfrm>
            <a:off x="2807208" y="4604004"/>
            <a:ext cx="155448" cy="0"/>
          </a:xfrm>
          <a:prstGeom prst="line">
            <a:avLst/>
          </a:prstGeom>
          <a:noFill/>
          <a:ln w="16510">
            <a:solidFill>
              <a:srgbClr val="A6B2C4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054096" y="4389120"/>
            <a:ext cx="1993392" cy="429768"/>
          </a:xfrm>
          <a:prstGeom prst="roundRect">
            <a:avLst>
              <a:gd name="adj" fmla="val 10638"/>
            </a:avLst>
          </a:prstGeom>
          <a:solidFill>
            <a:srgbClr val="19263A"/>
          </a:solidFill>
          <a:ln w="14605">
            <a:solidFill>
              <a:srgbClr val="66E3D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08960" y="4503420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66E3D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∇ᵍΦ = 0</a:t>
            </a:r>
            <a:endParaRPr lang="en-US" sz="1470" dirty="0"/>
          </a:p>
        </p:txBody>
      </p:sp>
      <p:sp>
        <p:nvSpPr>
          <p:cNvPr id="52" name="Shape 50"/>
          <p:cNvSpPr/>
          <p:nvPr/>
        </p:nvSpPr>
        <p:spPr>
          <a:xfrm>
            <a:off x="5138928" y="4604004"/>
            <a:ext cx="210312" cy="0"/>
          </a:xfrm>
          <a:prstGeom prst="line">
            <a:avLst/>
          </a:prstGeom>
          <a:noFill/>
          <a:ln w="16510">
            <a:solidFill>
              <a:srgbClr val="A6B2C4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5440680" y="4389120"/>
            <a:ext cx="2633472" cy="429768"/>
          </a:xfrm>
          <a:prstGeom prst="roundRect">
            <a:avLst>
              <a:gd name="adj" fmla="val 10638"/>
            </a:avLst>
          </a:prstGeom>
          <a:solidFill>
            <a:srgbClr val="19263A"/>
          </a:solidFill>
          <a:ln w="14605">
            <a:solidFill>
              <a:srgbClr val="6BB5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95544" y="4503420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6BB5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Hol(gΦ) ⊆ Spin(7)</a:t>
            </a:r>
            <a:endParaRPr lang="en-US" sz="1470" dirty="0"/>
          </a:p>
        </p:txBody>
      </p:sp>
      <p:sp>
        <p:nvSpPr>
          <p:cNvPr id="55" name="Shape 53"/>
          <p:cNvSpPr/>
          <p:nvPr/>
        </p:nvSpPr>
        <p:spPr>
          <a:xfrm>
            <a:off x="8165592" y="4604004"/>
            <a:ext cx="246888" cy="0"/>
          </a:xfrm>
          <a:prstGeom prst="line">
            <a:avLst/>
          </a:prstGeom>
          <a:noFill/>
          <a:ln w="16510">
            <a:solidFill>
              <a:srgbClr val="A6B2C4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8503920" y="4389120"/>
            <a:ext cx="2267712" cy="429768"/>
          </a:xfrm>
          <a:prstGeom prst="roundRect">
            <a:avLst>
              <a:gd name="adj" fmla="val 10638"/>
            </a:avLst>
          </a:prstGeom>
          <a:solidFill>
            <a:srgbClr val="19263A"/>
          </a:solidFill>
          <a:ln w="14605">
            <a:solidFill>
              <a:srgbClr val="83D39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558784" y="4503420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83D39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Ric(gΦ) = 0</a:t>
            </a:r>
            <a:endParaRPr lang="en-US" sz="1470" dirty="0"/>
          </a:p>
        </p:txBody>
      </p:sp>
      <p:sp>
        <p:nvSpPr>
          <p:cNvPr id="58" name="Shape 56"/>
          <p:cNvSpPr/>
          <p:nvPr/>
        </p:nvSpPr>
        <p:spPr>
          <a:xfrm>
            <a:off x="566928" y="5285232"/>
            <a:ext cx="6839712" cy="896112"/>
          </a:xfrm>
          <a:prstGeom prst="roundRect">
            <a:avLst>
              <a:gd name="adj" fmla="val 6122"/>
            </a:avLst>
          </a:prstGeom>
          <a:solidFill>
            <a:srgbClr val="151B2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86384" y="544982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spc="90" kern="0" dirty="0">
                <a:solidFill>
                  <a:srgbClr val="FF6B6B"/>
                </a:solidFill>
              </a:rPr>
              <a:t>STATUSGRENZE</a:t>
            </a:r>
            <a:endParaRPr lang="en-US" sz="980" dirty="0"/>
          </a:p>
        </p:txBody>
      </p:sp>
      <p:sp>
        <p:nvSpPr>
          <p:cNvPr id="60" name="Text 58"/>
          <p:cNvSpPr/>
          <p:nvPr/>
        </p:nvSpPr>
        <p:spPr>
          <a:xfrm>
            <a:off x="1947672" y="5394960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4F7F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Gram-Skelett → PL-Struktur  ≠  torsionsfreie Spin(7)-Geometrie</a:t>
            </a:r>
            <a:endParaRPr lang="en-US" sz="1220" dirty="0"/>
          </a:p>
        </p:txBody>
      </p:sp>
      <p:sp>
        <p:nvSpPr>
          <p:cNvPr id="61" name="Text 59"/>
          <p:cNvSpPr/>
          <p:nvPr/>
        </p:nvSpPr>
        <p:spPr>
          <a:xfrm>
            <a:off x="786384" y="5742432"/>
            <a:ext cx="6291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A6B2C4"/>
                </a:solidFill>
              </a:rPr>
              <a:t>Die Beweislast konzentriert sich auf eine mit dem Skelett kompatible globale admissible Cayley-Form Φ mit dΦ=0.</a:t>
            </a:r>
            <a:endParaRPr lang="en-US" sz="930" dirty="0"/>
          </a:p>
        </p:txBody>
      </p:sp>
      <p:sp>
        <p:nvSpPr>
          <p:cNvPr id="62" name="Shape 60"/>
          <p:cNvSpPr/>
          <p:nvPr/>
        </p:nvSpPr>
        <p:spPr>
          <a:xfrm>
            <a:off x="7616952" y="5285232"/>
            <a:ext cx="4005072" cy="896112"/>
          </a:xfrm>
          <a:prstGeom prst="roundRect">
            <a:avLst>
              <a:gd name="adj" fmla="val 6122"/>
            </a:avLst>
          </a:prstGeom>
          <a:solidFill>
            <a:srgbClr val="101E1B"/>
          </a:solidFill>
          <a:ln w="12700">
            <a:solidFill>
              <a:srgbClr val="83D39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45552" y="544068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spc="70" kern="0" dirty="0">
                <a:solidFill>
                  <a:srgbClr val="83D39B"/>
                </a:solidFill>
              </a:rPr>
              <a:t>EPISTEMISCHE EINORDNUNG</a:t>
            </a:r>
            <a:endParaRPr lang="en-US" sz="920" dirty="0"/>
          </a:p>
        </p:txBody>
      </p:sp>
      <p:sp>
        <p:nvSpPr>
          <p:cNvPr id="64" name="Text 62"/>
          <p:cNvSpPr/>
          <p:nvPr/>
        </p:nvSpPr>
        <p:spPr>
          <a:xfrm>
            <a:off x="7845552" y="570585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4F7FB"/>
                </a:solidFill>
              </a:rPr>
              <a:t>Ric(g)=0 ist das 8D-Vakuum-Einstein-Ziel (Λ=0), aber keine automatische 4D-Gravitationstheorie.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03504" y="646480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5758C"/>
                </a:solidFill>
              </a:rPr>
              <a:t>Topologischer Kern: semialgebraische Mengen sind triangulierbar; endliche Familien können kompatibel trianguliert werden. Geometrischer Kern: torsionsfreie Spin(7)-Struktur ⇒ Ricci-flach.</a:t>
            </a:r>
            <a:endParaRPr lang="en-US" sz="7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F6F8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Z6: Von der diskreten Cayley-Struktur zur Ricci-flachen Geometrie</dc:title>
  <dc:subject>Gate Z6 – semialgebraische Brücke und Spin(7)</dc:subject>
  <dc:creator>OpenAI</dc:creator>
  <cp:lastModifiedBy>OpenAI</cp:lastModifiedBy>
  <cp:revision>1</cp:revision>
  <dcterms:created xsi:type="dcterms:W3CDTF">2026-09-07T21:06:53Z</dcterms:created>
  <dcterms:modified xsi:type="dcterms:W3CDTF">2026-09-07T21:06:53Z</dcterms:modified>
</cp:coreProperties>
</file>